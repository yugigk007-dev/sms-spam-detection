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3" r:id="rId4"/>
    <p:sldId id="262" r:id="rId5"/>
    <p:sldId id="266" r:id="rId6"/>
    <p:sldId id="267" r:id="rId7"/>
    <p:sldId id="259" r:id="rId8"/>
    <p:sldId id="260" r:id="rId9"/>
    <p:sldId id="268" r:id="rId10"/>
    <p:sldId id="269" r:id="rId11"/>
    <p:sldId id="270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1578"/>
    <a:srgbClr val="FF6600"/>
    <a:srgbClr val="FF0066"/>
    <a:srgbClr val="F3F7FF"/>
    <a:srgbClr val="DDE8FF"/>
    <a:srgbClr val="F3FAFF"/>
    <a:srgbClr val="E7F5FF"/>
    <a:srgbClr val="CDEAFF"/>
    <a:srgbClr val="FEF8FC"/>
    <a:srgbClr val="F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F40F-165E-40CE-AF84-6CDB68BF8700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90F1-2467-457D-99A5-5A93439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43C-8127-1258-E9DF-EE5FBB97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CF94-B4A4-7FB2-3E23-B287C5F6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7579-6D5E-5D38-4156-0A63CE3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69B0-AE88-EBAB-1331-035CAE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ADCF-9A84-5546-D595-ED3A7C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C58-4E75-B9B4-DD8B-4D25F60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D94A-A679-5F94-E4F6-8DD7AA86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52-64D6-6E1D-61AF-B7D79DB1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2CD7-F904-E353-548C-CACAD9D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595-DC14-D85B-D84A-2DF824ED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476-CF38-1D79-ED27-C733048D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F996-4D87-8A99-8A9A-01379E37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56F3-D2F0-52E7-DC1B-0C486FF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7E55-4628-1157-274A-3EF14585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3F6C-BA0B-A877-BF17-8B45E9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4AF7-7823-341A-3744-75DC63C3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FEFD-F9C3-3DAE-858E-00D887944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D1562-ABF0-CC28-D2C4-C633152C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EE5AA-EA07-6D83-B362-B76F665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023A-F339-B53D-7E4A-2444445A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E6C6-AB7F-4959-6D62-21B78754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9E3A-6BB5-BA55-C8E7-1830CB5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7B83-98A9-9B9C-5C0C-9733C5EC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86CD-DA3D-D391-8FAA-38FBA9C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1F7CF-FE7E-CE5D-EF9C-9E2D7FD3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48E8C-68D9-E64F-1BE4-B9C265D36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CF674-9A3A-3044-645F-E8052F9B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99EB-4BF6-48AE-D4AC-8C09B612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6F228-AB23-AF97-9C06-8CCB6934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7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DD9D-E95C-3CDA-6C7A-23542737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453C-3392-3A29-A015-13DB08E6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47A0-CF43-F356-0270-F4DF472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9356C-6631-9C3A-AE27-AD51D4C1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0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D4A0C-5A28-2B3C-8975-67D09ED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7152-AF98-DFA8-628D-8204B135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8FA1-05D6-E569-A37A-E51368C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2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F50-0C1D-BD91-DD07-B1F880FE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D7D4-BDCA-BC98-E234-3EE780F0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4E5-BD7D-58BF-E1E3-217A8480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7B03F-ADE7-373C-C062-83B1106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AD0E-F03E-82E7-CB51-F87CA42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C2178-89AE-2D65-3C8A-C80DD8C2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942F-D40E-0AA3-0409-4AD39B39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E1BA-37F0-2DEA-B7FE-7FD565BFC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E0E8-D94A-3534-C8B6-58AE529E7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CC99-9E10-09F9-AD30-FF6E9144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6FBC-07D0-7226-C83D-F484DE1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E6EC-1C36-2D56-53B9-AAC08C98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ED5E-E518-1462-9F03-02EB2A35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73FA3-723E-3C3F-511B-0B95F1BD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E419-E8D7-3672-2612-A7604BE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BAEA-896A-AD8A-285C-C9D9ACE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B0A7-2238-48EC-922E-1EB2F121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2BAD-FA66-E62B-2199-72CACB838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4CA8-A123-79DB-FECA-162237D1B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2216-AD79-4A9C-5C9A-1DDECCB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0899-63C0-CE8F-6DB3-E5957E1E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E4F-8D10-2A48-F1B7-063AF1AE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0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1D91-9AC8-31CA-8712-A7ECA0E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E577-CF97-9AEF-4526-D8738FE5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AAA1C-BFE5-D2C1-7E75-080D5140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CD0C-F12A-4D68-B39F-1F8622420AB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E625-6497-CFBC-C695-85968D6B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110E-1343-465B-DA09-01A34C241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0563-83A6-EA20-0896-20220B48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6996BB-8738-0D83-66E9-F18820362BAC}"/>
              </a:ext>
            </a:extLst>
          </p:cNvPr>
          <p:cNvSpPr/>
          <p:nvPr/>
        </p:nvSpPr>
        <p:spPr>
          <a:xfrm>
            <a:off x="1165123" y="1425678"/>
            <a:ext cx="9861754" cy="686626"/>
          </a:xfrm>
          <a:custGeom>
            <a:avLst/>
            <a:gdLst>
              <a:gd name="csX0" fmla="*/ 283503 w 9861754"/>
              <a:gd name="csY0" fmla="*/ 0 h 686626"/>
              <a:gd name="csX1" fmla="*/ 9578251 w 9861754"/>
              <a:gd name="csY1" fmla="*/ 0 h 686626"/>
              <a:gd name="csX2" fmla="*/ 9861754 w 9861754"/>
              <a:gd name="csY2" fmla="*/ 283503 h 686626"/>
              <a:gd name="csX3" fmla="*/ 9861754 w 9861754"/>
              <a:gd name="csY3" fmla="*/ 686626 h 686626"/>
              <a:gd name="csX4" fmla="*/ 9578251 w 9861754"/>
              <a:gd name="csY4" fmla="*/ 403123 h 686626"/>
              <a:gd name="csX5" fmla="*/ 283503 w 9861754"/>
              <a:gd name="csY5" fmla="*/ 403123 h 686626"/>
              <a:gd name="csX6" fmla="*/ 0 w 9861754"/>
              <a:gd name="csY6" fmla="*/ 686626 h 686626"/>
              <a:gd name="csX7" fmla="*/ 0 w 9861754"/>
              <a:gd name="csY7" fmla="*/ 283503 h 686626"/>
              <a:gd name="csX8" fmla="*/ 283503 w 9861754"/>
              <a:gd name="csY8" fmla="*/ 0 h 686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861754" h="686626">
                <a:moveTo>
                  <a:pt x="283503" y="0"/>
                </a:moveTo>
                <a:lnTo>
                  <a:pt x="9578251" y="0"/>
                </a:lnTo>
                <a:cubicBezTo>
                  <a:pt x="9734825" y="0"/>
                  <a:pt x="9861754" y="126929"/>
                  <a:pt x="9861754" y="283503"/>
                </a:cubicBezTo>
                <a:lnTo>
                  <a:pt x="9861754" y="686626"/>
                </a:lnTo>
                <a:cubicBezTo>
                  <a:pt x="9861754" y="530052"/>
                  <a:pt x="9734825" y="403123"/>
                  <a:pt x="9578251" y="403123"/>
                </a:cubicBezTo>
                <a:lnTo>
                  <a:pt x="283503" y="403123"/>
                </a:lnTo>
                <a:cubicBezTo>
                  <a:pt x="126929" y="403123"/>
                  <a:pt x="0" y="530052"/>
                  <a:pt x="0" y="686626"/>
                </a:cubicBezTo>
                <a:lnTo>
                  <a:pt x="0" y="283503"/>
                </a:lnTo>
                <a:cubicBezTo>
                  <a:pt x="0" y="126929"/>
                  <a:pt x="126929" y="0"/>
                  <a:pt x="283503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5AAC5A-7ED0-68F8-8AC5-F388BC2FE97C}"/>
              </a:ext>
            </a:extLst>
          </p:cNvPr>
          <p:cNvSpPr/>
          <p:nvPr/>
        </p:nvSpPr>
        <p:spPr>
          <a:xfrm>
            <a:off x="1165123" y="1828801"/>
            <a:ext cx="9861754" cy="1700981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SMS Spam Detection Using Machine Learning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1C8AA7-8A00-43DA-CB19-F61E86F71520}"/>
              </a:ext>
            </a:extLst>
          </p:cNvPr>
          <p:cNvSpPr/>
          <p:nvPr/>
        </p:nvSpPr>
        <p:spPr>
          <a:xfrm>
            <a:off x="1435509" y="1496553"/>
            <a:ext cx="2196000" cy="28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pc="3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SMS </a:t>
            </a:r>
            <a:r>
              <a:rPr lang="en-IN" sz="1400" b="1" spc="300" dirty="0" err="1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Spamdetect</a:t>
            </a:r>
            <a:endParaRPr lang="en-IN" sz="1400" b="1" spc="300" dirty="0">
              <a:solidFill>
                <a:srgbClr val="00B0F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F359E9-B6DD-9EEB-2E3E-7BE5FDBEC5AC}"/>
              </a:ext>
            </a:extLst>
          </p:cNvPr>
          <p:cNvSpPr/>
          <p:nvPr/>
        </p:nvSpPr>
        <p:spPr>
          <a:xfrm>
            <a:off x="4575968" y="1496553"/>
            <a:ext cx="6120000" cy="28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pc="3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AD5302-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FF3B8A7-62C3-3747-13B5-05CE7377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386" y="3564197"/>
            <a:ext cx="7079227" cy="252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ctr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7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Name	:G Yugender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	:210425243066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 Section	:A</a:t>
            </a: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Name	:V Harish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Raghavendara</a:t>
            </a:r>
            <a:endParaRPr lang="en-US" altLang="en-US" sz="15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</a:t>
            </a:r>
            <a:r>
              <a:rPr lang="en-US" altLang="en-US" sz="15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	:210425243302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en-US" sz="15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 Section	:A</a:t>
            </a:r>
          </a:p>
        </p:txBody>
      </p:sp>
    </p:spTree>
    <p:extLst>
      <p:ext uri="{BB962C8B-B14F-4D97-AF65-F5344CB8AC3E}">
        <p14:creationId xmlns:p14="http://schemas.microsoft.com/office/powerpoint/2010/main" val="164347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D572-E9A6-80A3-3108-E6249327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Identification and Title Justification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6F9EB-29FA-2E6E-4AD4-D893A5BF3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>
            <a:normAutofit/>
          </a:bodyPr>
          <a:lstStyle/>
          <a:p>
            <a:r>
              <a:rPr lang="en-IN" dirty="0"/>
              <a:t>SMS spam messages have become increasingly common and often contain fraudulent links, phishing attempts, and misleading advertisements. Manual identification of spam messages is inefficient and prone to errors.</a:t>
            </a:r>
            <a:endParaRPr lang="en-IN" b="1" dirty="0"/>
          </a:p>
          <a:p>
            <a:r>
              <a:rPr lang="en-IN" dirty="0"/>
              <a:t>To develop a machine learning-based application that automatically classifies SMS messages as Spam or Ham (Legitimate), helping users avoid fraud and unwanted messages.</a:t>
            </a:r>
            <a:endParaRPr lang="en-IN" b="1" dirty="0"/>
          </a:p>
          <a:p>
            <a:r>
              <a:rPr lang="en-IN" dirty="0"/>
              <a:t>The title accurately reflects the project's objective of using machine learning techniques to identify spam messages. The project scope includes data preprocessing, feature extraction, model training, evaluation, and application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52595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3EFA-F30B-ABC2-3E3E-D2D402AB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8B2E-7046-F166-0F2C-D7284DA7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Identification and Title Justification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3BA888-C95F-7FF5-8D24-31C01885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Data Collection </a:t>
            </a:r>
          </a:p>
          <a:p>
            <a:r>
              <a:rPr lang="en-IN" dirty="0"/>
              <a:t>Data Cleaning and Preprocessing </a:t>
            </a:r>
          </a:p>
          <a:p>
            <a:r>
              <a:rPr lang="en-IN" dirty="0"/>
              <a:t>Natural Language Processing (NLP) </a:t>
            </a:r>
          </a:p>
          <a:p>
            <a:r>
              <a:rPr lang="en-IN" dirty="0"/>
              <a:t>Feature Extraction using TF-IDF </a:t>
            </a:r>
          </a:p>
          <a:p>
            <a:r>
              <a:rPr lang="en-IN" dirty="0"/>
              <a:t>Machine Learning Classification </a:t>
            </a:r>
          </a:p>
          <a:p>
            <a:r>
              <a:rPr lang="en-IN" dirty="0"/>
              <a:t>Model Evaluation </a:t>
            </a:r>
          </a:p>
          <a:p>
            <a:r>
              <a:rPr lang="en-IN" dirty="0"/>
              <a:t>Application Development </a:t>
            </a:r>
          </a:p>
          <a:p>
            <a:r>
              <a:rPr lang="en-IN" b="1" dirty="0"/>
              <a:t>Algorithms Used</a:t>
            </a:r>
          </a:p>
          <a:p>
            <a:r>
              <a:rPr lang="en-IN" dirty="0"/>
              <a:t>Multinomial Naive Bayes </a:t>
            </a:r>
          </a:p>
          <a:p>
            <a:r>
              <a:rPr lang="en-IN" dirty="0"/>
              <a:t>Logistic Regression </a:t>
            </a:r>
          </a:p>
          <a:p>
            <a:r>
              <a:rPr lang="en-IN" dirty="0"/>
              <a:t>Random Forest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94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2D18-5736-B13B-9BAE-592388EF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9106-6964-3A58-AFB7-B90897BB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2BED25-8281-A88F-D898-0F4C7B91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b="1" dirty="0"/>
              <a:t>1. SMS Spam Collection Dataset Classification</a:t>
            </a:r>
          </a:p>
          <a:p>
            <a:r>
              <a:rPr lang="en-IN" b="1" dirty="0"/>
              <a:t>Advantage:</a:t>
            </a:r>
            <a:r>
              <a:rPr lang="en-IN" dirty="0"/>
              <a:t> Widely used benchmark dataset</a:t>
            </a:r>
            <a:br>
              <a:rPr lang="en-IN" dirty="0"/>
            </a:br>
            <a:r>
              <a:rPr lang="en-IN" b="1" dirty="0"/>
              <a:t>Disadvantage:</a:t>
            </a:r>
            <a:r>
              <a:rPr lang="en-IN" dirty="0"/>
              <a:t> Limited to English messages</a:t>
            </a:r>
          </a:p>
          <a:p>
            <a:r>
              <a:rPr lang="en-IN" b="1" dirty="0"/>
              <a:t>2. Naive Bayes Based Spam Detection</a:t>
            </a:r>
          </a:p>
          <a:p>
            <a:r>
              <a:rPr lang="en-IN" b="1" dirty="0"/>
              <a:t>Advantage:</a:t>
            </a:r>
            <a:r>
              <a:rPr lang="en-IN" dirty="0"/>
              <a:t> Fast and simple</a:t>
            </a:r>
            <a:br>
              <a:rPr lang="en-IN" dirty="0"/>
            </a:br>
            <a:r>
              <a:rPr lang="en-IN" b="1" dirty="0"/>
              <a:t>Disadvantage:</a:t>
            </a:r>
            <a:r>
              <a:rPr lang="en-IN" dirty="0"/>
              <a:t> Lower accuracy for complex patterns</a:t>
            </a:r>
          </a:p>
        </p:txBody>
      </p:sp>
    </p:spTree>
    <p:extLst>
      <p:ext uri="{BB962C8B-B14F-4D97-AF65-F5344CB8AC3E}">
        <p14:creationId xmlns:p14="http://schemas.microsoft.com/office/powerpoint/2010/main" val="29382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70E6-A2F2-16BF-DD84-2F394A16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93E5-EF77-B34B-E35B-42139CFB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718073-B5E3-505C-777C-B1A9DB05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b="1" dirty="0"/>
              <a:t>3. Logistic Regression Spam Filter</a:t>
            </a:r>
          </a:p>
          <a:p>
            <a:r>
              <a:rPr lang="en-IN" b="1" dirty="0"/>
              <a:t>Advantage:</a:t>
            </a:r>
            <a:r>
              <a:rPr lang="en-IN" dirty="0"/>
              <a:t> Good interpretability</a:t>
            </a:r>
            <a:br>
              <a:rPr lang="en-IN" dirty="0"/>
            </a:br>
            <a:r>
              <a:rPr lang="en-IN" b="1" dirty="0"/>
              <a:t>Disadvantage:</a:t>
            </a:r>
            <a:r>
              <a:rPr lang="en-IN" dirty="0"/>
              <a:t> May miss contextual relationships</a:t>
            </a:r>
          </a:p>
          <a:p>
            <a:r>
              <a:rPr lang="en-IN" b="1" dirty="0"/>
              <a:t>4. Random Forest Spam Detection</a:t>
            </a:r>
          </a:p>
          <a:p>
            <a:r>
              <a:rPr lang="en-IN" b="1" dirty="0"/>
              <a:t>Advantage:</a:t>
            </a:r>
            <a:r>
              <a:rPr lang="en-IN" dirty="0"/>
              <a:t> High accuracy</a:t>
            </a:r>
            <a:br>
              <a:rPr lang="en-IN" dirty="0"/>
            </a:br>
            <a:r>
              <a:rPr lang="en-IN" b="1" dirty="0"/>
              <a:t>Disadvantage:</a:t>
            </a:r>
            <a:r>
              <a:rPr lang="en-IN" dirty="0"/>
              <a:t>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1303796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9C9DD-811A-77F5-E5E0-300D85CC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919F-9785-0260-0726-A5F10B63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83549C-FF3C-C9A9-4C4E-B834100C7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b="1" dirty="0"/>
              <a:t>5. Deep Learning-Based Spam Detection</a:t>
            </a:r>
          </a:p>
          <a:p>
            <a:r>
              <a:rPr lang="en-IN" b="1" dirty="0"/>
              <a:t>Advantage:</a:t>
            </a:r>
            <a:r>
              <a:rPr lang="en-IN" dirty="0"/>
              <a:t> Learns complex patterns</a:t>
            </a:r>
            <a:br>
              <a:rPr lang="en-IN" dirty="0"/>
            </a:br>
            <a:r>
              <a:rPr lang="en-IN" b="1" dirty="0"/>
              <a:t>Disadvantage:</a:t>
            </a:r>
            <a:r>
              <a:rPr lang="en-IN" dirty="0"/>
              <a:t> Requires large datasets</a:t>
            </a:r>
          </a:p>
          <a:p>
            <a:r>
              <a:rPr lang="en-IN" b="1" dirty="0"/>
              <a:t>Research Gap</a:t>
            </a:r>
          </a:p>
          <a:p>
            <a:r>
              <a:rPr lang="en-IN" dirty="0"/>
              <a:t>Most existing systems focus only on accuracy. There is a need for lightweight and efficient spam detection systems suitable for real-time deployment.</a:t>
            </a:r>
          </a:p>
        </p:txBody>
      </p:sp>
    </p:spTree>
    <p:extLst>
      <p:ext uri="{BB962C8B-B14F-4D97-AF65-F5344CB8AC3E}">
        <p14:creationId xmlns:p14="http://schemas.microsoft.com/office/powerpoint/2010/main" val="22431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6729-155D-0751-EF5C-B337A7EB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05BF-F651-1AA4-1AA9-EF80F8F8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of the Project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50ED82-A610-F054-CB6A-4D6353DA7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Primary Objective</a:t>
            </a:r>
          </a:p>
          <a:p>
            <a:r>
              <a:rPr lang="en-IN" dirty="0"/>
              <a:t>Develop an intelligent SMS spam detection system using machine learning.</a:t>
            </a:r>
          </a:p>
          <a:p>
            <a:r>
              <a:rPr lang="en-IN" b="1" dirty="0"/>
              <a:t>Specific Objectives</a:t>
            </a:r>
          </a:p>
          <a:p>
            <a:r>
              <a:rPr lang="en-IN" dirty="0"/>
              <a:t>Collect and preprocess SMS data. </a:t>
            </a:r>
          </a:p>
          <a:p>
            <a:r>
              <a:rPr lang="en-IN" dirty="0"/>
              <a:t>Perform exploratory data analysis. </a:t>
            </a:r>
          </a:p>
          <a:p>
            <a:r>
              <a:rPr lang="en-IN" dirty="0"/>
              <a:t>Extract meaningful text features. </a:t>
            </a:r>
          </a:p>
          <a:p>
            <a:r>
              <a:rPr lang="en-IN" dirty="0"/>
              <a:t>Train and compare multiple ML models. </a:t>
            </a:r>
          </a:p>
          <a:p>
            <a:r>
              <a:rPr lang="en-IN" dirty="0"/>
              <a:t>Evaluate performance using metrics. </a:t>
            </a:r>
          </a:p>
          <a:p>
            <a:r>
              <a:rPr lang="en-IN" dirty="0"/>
              <a:t>Develop a user-friendly prediction interface. </a:t>
            </a:r>
          </a:p>
          <a:p>
            <a:r>
              <a:rPr lang="en-IN" dirty="0"/>
              <a:t>Reduce exposure to spam and phishing messages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71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2EFA-4F75-31F7-BF01-0023F04F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97D1-470F-866E-82A7-B7BF7F6B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502D33-AFBF-5080-0FA5-5A1B9F123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321904"/>
            <a:ext cx="11471787" cy="485505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B839BB-DCF3-2F8B-80D8-3B25FF9B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399259"/>
              </p:ext>
            </p:extLst>
          </p:nvPr>
        </p:nvGraphicFramePr>
        <p:xfrm>
          <a:off x="530087" y="1784868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65646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05195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 &amp; 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53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723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Exploratory 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71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Extraction (TF-IDF)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4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74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853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13-14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1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32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Review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48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98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9B92-1DFD-06BF-8DC0-BF21F409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0B43-999F-8AC0-755E-D0D6CE41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CCCA3C-F09B-8F7A-4D72-940774BB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V Harish </a:t>
            </a:r>
            <a:r>
              <a:rPr lang="en-IN" b="1" dirty="0" err="1"/>
              <a:t>Raghavendara</a:t>
            </a:r>
            <a:endParaRPr lang="en-IN" dirty="0"/>
          </a:p>
          <a:p>
            <a:r>
              <a:rPr lang="en-IN" dirty="0"/>
              <a:t>Dataset Collection 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EDA </a:t>
            </a:r>
          </a:p>
          <a:p>
            <a:r>
              <a:rPr lang="en-IN" dirty="0"/>
              <a:t>Documentation </a:t>
            </a:r>
          </a:p>
          <a:p>
            <a:r>
              <a:rPr lang="en-IN" b="1" dirty="0"/>
              <a:t>Yugender</a:t>
            </a:r>
            <a:endParaRPr lang="en-IN" dirty="0"/>
          </a:p>
          <a:p>
            <a:r>
              <a:rPr lang="en-IN" dirty="0"/>
              <a:t>Feature Engineering </a:t>
            </a:r>
          </a:p>
          <a:p>
            <a:r>
              <a:rPr lang="en-IN" dirty="0"/>
              <a:t>Model Development </a:t>
            </a:r>
          </a:p>
          <a:p>
            <a:r>
              <a:rPr lang="en-IN" dirty="0"/>
              <a:t>Application Development </a:t>
            </a:r>
          </a:p>
          <a:p>
            <a:r>
              <a:rPr lang="en-IN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54737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7789F-9C99-44EA-CD37-4E7BF3F1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82B5-2B04-A0AC-B9DE-CCA3F7E4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F1AC50-29BC-7AD2-F72D-F52020272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dirty="0"/>
              <a:t>Dataset Ready </a:t>
            </a:r>
          </a:p>
          <a:p>
            <a:r>
              <a:rPr lang="en-IN" dirty="0"/>
              <a:t>EDA Completed </a:t>
            </a:r>
          </a:p>
          <a:p>
            <a:r>
              <a:rPr lang="en-IN" dirty="0"/>
              <a:t>Models Trained </a:t>
            </a:r>
          </a:p>
          <a:p>
            <a:r>
              <a:rPr lang="en-IN" dirty="0"/>
              <a:t>Best Model Selected </a:t>
            </a:r>
          </a:p>
          <a:p>
            <a:r>
              <a:rPr lang="en-IN" dirty="0"/>
              <a:t>Application Developed </a:t>
            </a:r>
          </a:p>
          <a:p>
            <a:r>
              <a:rPr lang="en-IN" dirty="0"/>
              <a:t>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86441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74E6-B5D9-A3C4-A20B-40ADAA0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D657-5641-ED32-28E4-2531D883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Planning and Time Schedule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26CF05-FE07-E6F5-C51C-2E166E54D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dirty="0"/>
              <a:t>Gantt chart / timeline preparation</a:t>
            </a:r>
          </a:p>
          <a:p>
            <a:r>
              <a:rPr lang="en-IN" dirty="0"/>
              <a:t>Task allocation among team members</a:t>
            </a:r>
          </a:p>
          <a:p>
            <a:r>
              <a:rPr lang="en-IN" dirty="0"/>
              <a:t>Milestone planning</a:t>
            </a:r>
          </a:p>
        </p:txBody>
      </p:sp>
    </p:spTree>
    <p:extLst>
      <p:ext uri="{BB962C8B-B14F-4D97-AF65-F5344CB8AC3E}">
        <p14:creationId xmlns:p14="http://schemas.microsoft.com/office/powerpoint/2010/main" val="178739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D26C-08B1-DDCC-AC69-3AACEF98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90B4-4498-0444-8B83-4246EC4E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78313"/>
            <a:ext cx="10515600" cy="9032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EFA4A4-230D-2985-2F21-8AFA76F0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55174"/>
            <a:ext cx="11471787" cy="4721789"/>
          </a:xfrm>
        </p:spPr>
        <p:txBody>
          <a:bodyPr/>
          <a:lstStyle/>
          <a:p>
            <a:r>
              <a:rPr lang="en-IN" dirty="0"/>
              <a:t>Almeida, T.A., Gómez Hidalgo, J.M., and </a:t>
            </a:r>
            <a:r>
              <a:rPr lang="en-IN" dirty="0" err="1"/>
              <a:t>Yamakami</a:t>
            </a:r>
            <a:r>
              <a:rPr lang="en-IN" dirty="0"/>
              <a:t>, A. (2011). SMS Spam Collection Dataset.</a:t>
            </a:r>
          </a:p>
          <a:p>
            <a:r>
              <a:rPr lang="en-IN" dirty="0"/>
              <a:t> Han, J., Kamber, M., &amp; Pei, J. Data Mining: Concepts and Techniques. </a:t>
            </a:r>
          </a:p>
          <a:p>
            <a:r>
              <a:rPr lang="en-IN" dirty="0" err="1"/>
              <a:t>Géron</a:t>
            </a:r>
            <a:r>
              <a:rPr lang="en-IN" dirty="0"/>
              <a:t>, A. Hands-On Machine Learning with Scikit-Learn.</a:t>
            </a:r>
          </a:p>
          <a:p>
            <a:r>
              <a:rPr lang="en-IN" dirty="0"/>
              <a:t> </a:t>
            </a:r>
            <a:r>
              <a:rPr lang="en-IN" dirty="0" err="1"/>
              <a:t>Jurafsky</a:t>
            </a:r>
            <a:r>
              <a:rPr lang="en-IN" dirty="0"/>
              <a:t>, D., &amp; Martin, J.H. Speech and Language Processing.</a:t>
            </a:r>
          </a:p>
          <a:p>
            <a:r>
              <a:rPr lang="en-IN" dirty="0"/>
              <a:t> Scikit-Learn Documentation. </a:t>
            </a:r>
          </a:p>
          <a:p>
            <a:r>
              <a:rPr lang="en-IN" dirty="0"/>
              <a:t>Pandas Documentation. </a:t>
            </a:r>
          </a:p>
          <a:p>
            <a:r>
              <a:rPr lang="en-IN" dirty="0"/>
              <a:t>Kaggle SMS Spam Collection Dataset</a:t>
            </a:r>
          </a:p>
        </p:txBody>
      </p:sp>
    </p:spTree>
    <p:extLst>
      <p:ext uri="{BB962C8B-B14F-4D97-AF65-F5344CB8AC3E}">
        <p14:creationId xmlns:p14="http://schemas.microsoft.com/office/powerpoint/2010/main" val="220213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BFE-A197-8561-F3D1-AC6782F2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B956-F31A-B84C-394E-FECA6187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1697"/>
            <a:ext cx="10515600" cy="2474605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5800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569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</vt:lpstr>
      <vt:lpstr>Times New Roman</vt:lpstr>
      <vt:lpstr>Office Theme</vt:lpstr>
      <vt:lpstr>PowerPoint Presentation</vt:lpstr>
      <vt:lpstr>Problem Identification and Title Justification</vt:lpstr>
      <vt:lpstr>Problem Identification and Title Justification</vt:lpstr>
      <vt:lpstr>Literature Survey</vt:lpstr>
      <vt:lpstr>Literature Survey</vt:lpstr>
      <vt:lpstr>Literature Survey</vt:lpstr>
      <vt:lpstr>Objectives of the Project</vt:lpstr>
      <vt:lpstr>Project Planning and Time Schedule</vt:lpstr>
      <vt:lpstr>Project Planning and Time Schedule</vt:lpstr>
      <vt:lpstr>Project Planning and Time Schedule</vt:lpstr>
      <vt:lpstr>Project Planning and Time Schedule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Perike</dc:creator>
  <cp:lastModifiedBy>Rahul natesh</cp:lastModifiedBy>
  <cp:revision>294</cp:revision>
  <dcterms:created xsi:type="dcterms:W3CDTF">2026-06-12T06:07:18Z</dcterms:created>
  <dcterms:modified xsi:type="dcterms:W3CDTF">2026-06-21T17:33:15Z</dcterms:modified>
</cp:coreProperties>
</file>